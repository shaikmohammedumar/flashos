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embeddedFontLst>
    <p:embeddedFont>
      <p:font typeface="Roboto"/>
      <p:regular r:id="rId201314"/>
    </p:embeddedFont>
    <p:embeddedFont>
      <p:font typeface="Roboto Bold"/>
      <p:regular r:id="rId201315"/>
    </p:embeddedFont>
    <p:embeddedFont>
      <p:font typeface="Roboto Slab"/>
      <p:regular r:id="rId201316"/>
    </p:embeddedFont>
    <p:embeddedFont>
      <p:font typeface="Roboto Slab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1.png"/><Relationship Id="rId4" Type="http://schemas.openxmlformats.org/officeDocument/2006/relationships/image" Target="../media/image-8-2.svg"/><Relationship Id="rId5" Type="http://schemas.openxmlformats.org/officeDocument/2006/relationships/image" Target="../media/image-8-1.png"/><Relationship Id="rId6" Type="http://schemas.openxmlformats.org/officeDocument/2006/relationships/image" Target="../media/image-8-2.svg"/><Relationship Id="rId7" Type="http://schemas.openxmlformats.org/officeDocument/2006/relationships/image" Target="../media/image-8-1.png"/><Relationship Id="rId8" Type="http://schemas.openxmlformats.org/officeDocument/2006/relationships/image" Target="../media/image-8-2.svg"/><Relationship Id="rId9" Type="http://schemas.openxmlformats.org/officeDocument/2006/relationships/image" Target="../media/image-8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2.png"/><Relationship Id="rId5" Type="http://schemas.openxmlformats.org/officeDocument/2006/relationships/image" Target="../media/image-9-3.sv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3F465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54" y="141684"/>
            <a:ext cx="4382978" cy="65746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2246511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FLASHOS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2912765"/>
            <a:ext cx="629686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Operating Systems Project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5233360" y="3491508"/>
            <a:ext cx="6296860" cy="1119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Subtitle: A Lightweight OS-Based Manual File Backup and Recovery System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Faculty: Dr. P Pavan Kumar · College / Department: KLH (Aziznagar)/ CSE department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3F465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54" y="141684"/>
            <a:ext cx="4382978" cy="65746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2129532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Problem Statement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3003649"/>
            <a:ext cx="6296860" cy="1724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Users can accidentally delete, overwrite, or modify important files. Manual backup is inconvenient and often forgotten. There is a need for a simple command-line utility that lets users create backups and restore files when required.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D6E5E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Key point: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Recovery is manual and controlled by the user.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4384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What is FlashOS?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830586"/>
            <a:ext cx="4070744" cy="407084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199726" y="2235895"/>
            <a:ext cx="633674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FlashOS is a small Linux-based command-line file backup and recovery utility implemented in C. It demonstrates practical OS and Linux system programming using a focused file-management feature set.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5199726" y="3313212"/>
            <a:ext cx="6336745" cy="1407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Manual backup: user-initiated file copy to backup directory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List backups: view available backups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Manual restore: restore selected backup to original location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REPL interface: simple command loop (help, exit)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5199726" y="4891187"/>
            <a:ext cx="6336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FlashOS is NOT a full OS — it is a teaching project that uses Linux system calls to implement file operations.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3F465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1287" y="137220"/>
            <a:ext cx="4388931" cy="65835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50763"/>
            <a:ext cx="6296860" cy="572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Current Implementation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661475" y="1388963"/>
            <a:ext cx="3059730" cy="2200672"/>
          </a:xfrm>
          <a:prstGeom prst="roundRect">
            <a:avLst>
              <a:gd name="adj" fmla="val 1248"/>
            </a:avLst>
          </a:prstGeom>
          <a:solidFill>
            <a:srgbClr val="3F4652"/>
          </a:solidFill>
          <a:ln/>
        </p:spPr>
      </p:sp>
      <p:sp>
        <p:nvSpPr>
          <p:cNvPr id="6" name="Text 3"/>
          <p:cNvSpPr/>
          <p:nvPr/>
        </p:nvSpPr>
        <p:spPr>
          <a:xfrm>
            <a:off x="844529" y="1572022"/>
            <a:ext cx="2693622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Implemented Features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44529" y="1964432"/>
            <a:ext cx="2693622" cy="1442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 FlashOS project structure</a:t>
            </a:r>
            <a:endParaRPr lang="en-US" sz="1400" dirty="0"/>
          </a:p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 C-based program</a:t>
            </a:r>
            <a:endParaRPr lang="en-US" sz="1400" dirty="0"/>
          </a:p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 REPL command interface</a:t>
            </a:r>
            <a:endParaRPr lang="en-US" sz="1400" dirty="0"/>
          </a:p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 Makefile &amp; GCC compilation</a:t>
            </a:r>
            <a:endParaRPr lang="en-US" sz="1400" dirty="0"/>
          </a:p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 help &amp; exit commands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898505" y="1388963"/>
            <a:ext cx="3059830" cy="2200672"/>
          </a:xfrm>
          <a:prstGeom prst="roundRect">
            <a:avLst>
              <a:gd name="adj" fmla="val 1248"/>
            </a:avLst>
          </a:prstGeom>
          <a:solidFill>
            <a:srgbClr val="3F4652"/>
          </a:solidFill>
          <a:ln/>
        </p:spPr>
      </p:sp>
      <p:sp>
        <p:nvSpPr>
          <p:cNvPr id="9" name="Text 6"/>
          <p:cNvSpPr/>
          <p:nvPr/>
        </p:nvSpPr>
        <p:spPr>
          <a:xfrm>
            <a:off x="4081559" y="1572022"/>
            <a:ext cx="2693722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Backup &amp; Restore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081559" y="1964432"/>
            <a:ext cx="2693722" cy="1442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 Manual file backup</a:t>
            </a:r>
            <a:endParaRPr lang="en-US" sz="1400" dirty="0"/>
          </a:p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 Backup listing</a:t>
            </a:r>
            <a:endParaRPr lang="en-US" sz="1400" dirty="0"/>
          </a:p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 Manual file restore</a:t>
            </a:r>
            <a:endParaRPr lang="en-US" sz="1400" dirty="0"/>
          </a:p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 Linux file I/O: open(), read(), write(), close()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61475" y="3766939"/>
            <a:ext cx="6296860" cy="1335385"/>
          </a:xfrm>
          <a:prstGeom prst="roundRect">
            <a:avLst>
              <a:gd name="adj" fmla="val 2057"/>
            </a:avLst>
          </a:prstGeom>
          <a:solidFill>
            <a:srgbClr val="3F4652"/>
          </a:solidFill>
          <a:ln/>
        </p:spPr>
      </p:sp>
      <p:sp>
        <p:nvSpPr>
          <p:cNvPr id="12" name="Text 9"/>
          <p:cNvSpPr/>
          <p:nvPr/>
        </p:nvSpPr>
        <p:spPr>
          <a:xfrm>
            <a:off x="844529" y="3949998"/>
            <a:ext cx="5930752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Testing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844529" y="4342408"/>
            <a:ext cx="5930752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 Functional testing using test.txt</a:t>
            </a:r>
            <a:endParaRPr lang="en-US" sz="1400" dirty="0"/>
          </a:p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 Verified basic workflows on Linux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61475" y="5301853"/>
            <a:ext cx="6296860" cy="1005284"/>
          </a:xfrm>
          <a:prstGeom prst="roundRect">
            <a:avLst>
              <a:gd name="adj" fmla="val 2732"/>
            </a:avLst>
          </a:prstGeom>
          <a:solidFill>
            <a:srgbClr val="0D3E73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529" y="5555159"/>
            <a:ext cx="228793" cy="183059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256376" y="5524897"/>
            <a:ext cx="5518905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 operations are explicitly initiated by the user (manual backup &amp; manual restore).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3F465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9162" y="103981"/>
            <a:ext cx="4433181" cy="66499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42826"/>
            <a:ext cx="6296860" cy="433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FlashOS — Working Demonstration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661475" y="1129506"/>
            <a:ext cx="6296860" cy="711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D6E5EF"/>
                </a:solidFill>
                <a:highlight>
                  <a:srgbClr val="2D34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$ make</a:t>
            </a:r>
            <a:endParaRPr lang="en-US" sz="1050" dirty="0"/>
          </a:p>
          <a:p>
            <a:pPr algn="l" indent="0" marL="0">
              <a:lnSpc>
                <a:spcPct val="1160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D6E5EF"/>
                </a:solidFill>
                <a:highlight>
                  <a:srgbClr val="2D34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gcc -Wall -Wextra src/main.c -o flashos</a:t>
            </a:r>
            <a:endParaRPr lang="en-US" sz="105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D6E5EF"/>
                </a:solidFill>
                <a:highlight>
                  <a:srgbClr val="2D34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$ ./flashos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661475" y="1955502"/>
            <a:ext cx="6296860" cy="4052491"/>
          </a:xfrm>
          <a:prstGeom prst="roundRect">
            <a:avLst>
              <a:gd name="adj" fmla="val 514"/>
            </a:avLst>
          </a:prstGeom>
          <a:solidFill>
            <a:srgbClr val="2D3440"/>
          </a:solidFill>
          <a:ln/>
        </p:spPr>
      </p:sp>
      <p:sp>
        <p:nvSpPr>
          <p:cNvPr id="7" name="Text 4"/>
          <p:cNvSpPr/>
          <p:nvPr/>
        </p:nvSpPr>
        <p:spPr>
          <a:xfrm>
            <a:off x="827960" y="2094309"/>
            <a:ext cx="5963890" cy="3774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============================ FlashOS v1.0 ============================</a:t>
            </a: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'help' to see commands.</a:t>
            </a: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FlashOS&gt; help</a:t>
            </a: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Available Commands: help backup restore list exit</a:t>
            </a: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FlashOS&gt; backup test.txt</a:t>
            </a: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Backup successful: test.txt</a:t>
            </a: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FlashOS&gt; list</a:t>
            </a: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Available Backups: test.txt</a:t>
            </a: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FlashOS&gt; restore test.txt</a:t>
            </a: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Restore successful: test.txt</a:t>
            </a: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FlashOS&gt; exit</a:t>
            </a: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Exiting FlashOS...</a:t>
            </a: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61475" y="6122591"/>
            <a:ext cx="6906444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50" b="1" dirty="0">
                <a:solidFill>
                  <a:srgbClr val="D6E5E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Highlight:</a:t>
            </a:r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All backup and restore actions are user-controlled.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Manual Backup Implementation</a:t>
            </a:r>
            <a:endParaRPr lang="en-US" sz="18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221" y="909538"/>
            <a:ext cx="10779153" cy="46482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31583" y="4676346"/>
            <a:ext cx="2516222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write() Writes Backup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1431583" y="3600340"/>
            <a:ext cx="2445408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read() Reads Bytes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431583" y="2535202"/>
            <a:ext cx="2445408" cy="305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FlashOS Opens File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431583" y="1459196"/>
            <a:ext cx="2445408" cy="305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User Invokes Backup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61475" y="5610920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Implementation steps: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661475" y="5777409"/>
            <a:ext cx="10868745" cy="66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42240" indent="-142240">
              <a:lnSpc>
                <a:spcPct val="100000"/>
              </a:lnSpc>
              <a:buSzPct val="100000"/>
              <a:buFont typeface="+mj-lt"/>
              <a:buAutoNum type="arabicPeriod" startAt="1"/>
            </a:pPr>
            <a:r>
              <a:rPr lang="en-US" sz="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 issues: </a:t>
            </a:r>
            <a:pPr algn="l" marL="142240" indent="-142240">
              <a:lnSpc>
                <a:spcPct val="100000"/>
              </a:lnSpc>
              <a:buSzPct val="100000"/>
              <a:buFont typeface="+mj-lt"/>
              <a:buAutoNum type="arabicPeriod" startAt="1"/>
            </a:pPr>
            <a:r>
              <a:rPr lang="en-US" sz="700" dirty="0">
                <a:solidFill>
                  <a:srgbClr val="D6E5EF"/>
                </a:solidFill>
                <a:highlight>
                  <a:srgbClr val="2D34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backup test.txt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Font typeface="+mj-lt"/>
              <a:buAutoNum type="arabicPeriod" startAt="2"/>
            </a:pPr>
            <a:r>
              <a:rPr lang="en-US" sz="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FlashOS calls </a:t>
            </a:r>
            <a:pPr algn="l" marL="142240" indent="-142240">
              <a:lnSpc>
                <a:spcPct val="100000"/>
              </a:lnSpc>
              <a:buSzPct val="100000"/>
              <a:buFont typeface="+mj-lt"/>
              <a:buAutoNum type="arabicPeriod" startAt="2"/>
            </a:pPr>
            <a:r>
              <a:rPr lang="en-US" sz="700" dirty="0">
                <a:solidFill>
                  <a:srgbClr val="D6E5EF"/>
                </a:solidFill>
                <a:highlight>
                  <a:srgbClr val="2D34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open()</a:t>
            </a:r>
            <a:pPr algn="l" marL="142240" indent="-142240">
              <a:lnSpc>
                <a:spcPct val="100000"/>
              </a:lnSpc>
              <a:buSzPct val="100000"/>
              <a:buFont typeface="+mj-lt"/>
              <a:buAutoNum type="arabicPeriod" startAt="2"/>
            </a:pPr>
            <a:r>
              <a:rPr lang="en-US" sz="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on source file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Font typeface="+mj-lt"/>
              <a:buAutoNum type="arabicPeriod" startAt="3"/>
            </a:pPr>
            <a:r>
              <a:rPr lang="en-US" sz="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Read bytes via </a:t>
            </a:r>
            <a:pPr algn="l" marL="142240" indent="-142240">
              <a:lnSpc>
                <a:spcPct val="100000"/>
              </a:lnSpc>
              <a:buSzPct val="100000"/>
              <a:buFont typeface="+mj-lt"/>
              <a:buAutoNum type="arabicPeriod" startAt="3"/>
            </a:pPr>
            <a:r>
              <a:rPr lang="en-US" sz="700" dirty="0">
                <a:solidFill>
                  <a:srgbClr val="D6E5EF"/>
                </a:solidFill>
                <a:highlight>
                  <a:srgbClr val="2D34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read()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Font typeface="+mj-lt"/>
              <a:buAutoNum type="arabicPeriod" startAt="4"/>
            </a:pPr>
            <a:r>
              <a:rPr lang="en-US" sz="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Write bytes into </a:t>
            </a:r>
            <a:pPr algn="l" marL="142240" indent="-142240">
              <a:lnSpc>
                <a:spcPct val="100000"/>
              </a:lnSpc>
              <a:buSzPct val="100000"/>
              <a:buFont typeface="+mj-lt"/>
              <a:buAutoNum type="arabicPeriod" startAt="4"/>
            </a:pPr>
            <a:r>
              <a:rPr lang="en-US" sz="700" dirty="0">
                <a:solidFill>
                  <a:srgbClr val="D6E5EF"/>
                </a:solidFill>
                <a:highlight>
                  <a:srgbClr val="2D34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backup/test.txt</a:t>
            </a:r>
            <a:pPr algn="l" marL="142240" indent="-142240">
              <a:lnSpc>
                <a:spcPct val="100000"/>
              </a:lnSpc>
              <a:buSzPct val="100000"/>
              <a:buFont typeface="+mj-lt"/>
              <a:buAutoNum type="arabicPeriod" startAt="4"/>
            </a:pPr>
            <a:r>
              <a:rPr lang="en-US" sz="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via </a:t>
            </a:r>
            <a:pPr algn="l" marL="142240" indent="-142240">
              <a:lnSpc>
                <a:spcPct val="100000"/>
              </a:lnSpc>
              <a:buSzPct val="100000"/>
              <a:buFont typeface="+mj-lt"/>
              <a:buAutoNum type="arabicPeriod" startAt="4"/>
            </a:pPr>
            <a:r>
              <a:rPr lang="en-US" sz="700" dirty="0">
                <a:solidFill>
                  <a:srgbClr val="D6E5EF"/>
                </a:solidFill>
                <a:highlight>
                  <a:srgbClr val="2D34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write()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Font typeface="+mj-lt"/>
              <a:buAutoNum type="arabicPeriod" startAt="5"/>
            </a:pPr>
            <a:r>
              <a:rPr lang="en-US" sz="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Close file descriptors with </a:t>
            </a:r>
            <a:pPr algn="l" marL="142240" indent="-142240">
              <a:lnSpc>
                <a:spcPct val="100000"/>
              </a:lnSpc>
              <a:buSzPct val="100000"/>
              <a:buFont typeface="+mj-lt"/>
              <a:buAutoNum type="arabicPeriod" startAt="5"/>
            </a:pPr>
            <a:r>
              <a:rPr lang="en-US" sz="700" dirty="0">
                <a:solidFill>
                  <a:srgbClr val="D6E5EF"/>
                </a:solidFill>
                <a:highlight>
                  <a:srgbClr val="2D34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close()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661475" y="6495157"/>
            <a:ext cx="10868745" cy="250329"/>
          </a:xfrm>
          <a:prstGeom prst="roundRect">
            <a:avLst>
              <a:gd name="adj" fmla="val 5663"/>
            </a:avLst>
          </a:prstGeom>
          <a:solidFill>
            <a:srgbClr val="0D3E7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929" y="6565999"/>
            <a:ext cx="118067" cy="94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68450" y="6565999"/>
            <a:ext cx="11076901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Backup is manually initiated by the user; no automatic backup or automatic recovery is implemented.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5866"/>
            <a:ext cx="10868745" cy="47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Project Structure &amp; Build System</a:t>
            </a:r>
            <a:endParaRPr lang="en-US" sz="3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420019"/>
            <a:ext cx="4684794" cy="468491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27259" y="1355130"/>
            <a:ext cx="5809212" cy="256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1000"/>
              </a:lnSpc>
              <a:spcAft>
                <a:spcPts val="850"/>
              </a:spcAft>
              <a:buNone/>
            </a:pPr>
            <a:r>
              <a:rPr lang="en-US" sz="12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Repository layout:</a:t>
            </a:r>
            <a:endParaRPr lang="en-US" sz="1200" dirty="0"/>
          </a:p>
          <a:p>
            <a:pPr algn="l" indent="0" marL="0">
              <a:lnSpc>
                <a:spcPct val="121000"/>
              </a:lnSpc>
              <a:spcAft>
                <a:spcPts val="850"/>
              </a:spcAft>
              <a:buNone/>
            </a:pPr>
            <a:r>
              <a:rPr lang="en-US" sz="12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FlashOS/</a:t>
            </a:r>
            <a:endParaRPr lang="en-US" sz="1200" dirty="0"/>
          </a:p>
          <a:p>
            <a:pPr algn="l" indent="0" marL="0">
              <a:lnSpc>
                <a:spcPct val="121000"/>
              </a:lnSpc>
              <a:spcAft>
                <a:spcPts val="850"/>
              </a:spcAft>
              <a:buNone/>
            </a:pPr>
            <a:r>
              <a:rPr lang="en-US" sz="12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├── src/ (main.c)</a:t>
            </a:r>
            <a:endParaRPr lang="en-US" sz="1200" dirty="0"/>
          </a:p>
          <a:p>
            <a:pPr algn="l" indent="0" marL="0">
              <a:lnSpc>
                <a:spcPct val="121000"/>
              </a:lnSpc>
              <a:spcAft>
                <a:spcPts val="850"/>
              </a:spcAft>
              <a:buNone/>
            </a:pPr>
            <a:r>
              <a:rPr lang="en-US" sz="12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├── include/ (headers reserved)</a:t>
            </a:r>
            <a:endParaRPr lang="en-US" sz="1200" dirty="0"/>
          </a:p>
          <a:p>
            <a:pPr algn="l" indent="0" marL="0">
              <a:lnSpc>
                <a:spcPct val="121000"/>
              </a:lnSpc>
              <a:spcAft>
                <a:spcPts val="850"/>
              </a:spcAft>
              <a:buNone/>
            </a:pPr>
            <a:r>
              <a:rPr lang="en-US" sz="12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├── backup/ (stores manual backups)</a:t>
            </a:r>
            <a:endParaRPr lang="en-US" sz="1200" dirty="0"/>
          </a:p>
          <a:p>
            <a:pPr algn="l" indent="0" marL="0">
              <a:lnSpc>
                <a:spcPct val="121000"/>
              </a:lnSpc>
              <a:spcAft>
                <a:spcPts val="850"/>
              </a:spcAft>
              <a:buNone/>
            </a:pPr>
            <a:r>
              <a:rPr lang="en-US" sz="12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├── docs/ (project documentation)</a:t>
            </a:r>
            <a:endParaRPr lang="en-US" sz="1200" dirty="0"/>
          </a:p>
          <a:p>
            <a:pPr algn="l" indent="0" marL="0">
              <a:lnSpc>
                <a:spcPct val="121000"/>
              </a:lnSpc>
              <a:spcAft>
                <a:spcPts val="850"/>
              </a:spcAft>
              <a:buNone/>
            </a:pPr>
            <a:r>
              <a:rPr lang="en-US" sz="12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├── Makefile</a:t>
            </a:r>
            <a:endParaRPr lang="en-US" sz="12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└── flashos (compiled executable)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727259" y="4100413"/>
            <a:ext cx="5809212" cy="19050"/>
          </a:xfrm>
          <a:prstGeom prst="roundRect">
            <a:avLst>
              <a:gd name="adj" fmla="val 49999"/>
            </a:avLst>
          </a:prstGeom>
          <a:solidFill>
            <a:srgbClr val="D6E5EF">
              <a:alpha val="5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5727259" y="4298057"/>
            <a:ext cx="5809212" cy="9050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1000"/>
              </a:lnSpc>
              <a:spcAft>
                <a:spcPts val="850"/>
              </a:spcAft>
              <a:buNone/>
            </a:pPr>
            <a:r>
              <a:rPr lang="en-US" sz="12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Build flow:</a:t>
            </a:r>
            <a:endParaRPr lang="en-US" sz="1200" dirty="0"/>
          </a:p>
          <a:p>
            <a:pPr algn="l" indent="0" marL="0">
              <a:lnSpc>
                <a:spcPct val="121000"/>
              </a:lnSpc>
              <a:spcAft>
                <a:spcPts val="850"/>
              </a:spcAft>
              <a:buNone/>
            </a:pPr>
            <a:r>
              <a:rPr lang="en-US" sz="1200" dirty="0">
                <a:solidFill>
                  <a:srgbClr val="D6E5EF"/>
                </a:solidFill>
                <a:highlight>
                  <a:srgbClr val="2D34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main.c → Makefile → GCC → flashos → ./flashos</a:t>
            </a:r>
            <a:endParaRPr lang="en-US" sz="12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Actual command: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727259" y="5343426"/>
            <a:ext cx="5809212" cy="798314"/>
          </a:xfrm>
          <a:prstGeom prst="roundRect">
            <a:avLst>
              <a:gd name="adj" fmla="val 2886"/>
            </a:avLst>
          </a:prstGeom>
          <a:solidFill>
            <a:srgbClr val="2D3440"/>
          </a:solidFill>
          <a:ln/>
        </p:spPr>
      </p:sp>
      <p:sp>
        <p:nvSpPr>
          <p:cNvPr id="8" name="Text 5"/>
          <p:cNvSpPr/>
          <p:nvPr/>
        </p:nvSpPr>
        <p:spPr>
          <a:xfrm>
            <a:off x="5911504" y="5496917"/>
            <a:ext cx="5440722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make</a:t>
            </a:r>
            <a:endParaRPr lang="en-US" sz="12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gcc -Wall -Wextra src/main.c -o flashos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1103"/>
            <a:ext cx="10868745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Faculty Evaluation Criteria</a:t>
            </a:r>
            <a:endParaRPr lang="en-US" sz="3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477566"/>
            <a:ext cx="5348551" cy="18734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227654" y="1612702"/>
            <a:ext cx="216093" cy="2701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866952" y="2198092"/>
            <a:ext cx="4937597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NOVELTY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866952" y="2582565"/>
            <a:ext cx="4937597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FlashOS offers a lightweight, command-line approach for user-controlled manual backup and restoration.</a:t>
            </a:r>
            <a:endParaRPr lang="en-US" sz="14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81670" y="1477566"/>
            <a:ext cx="5348551" cy="187344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747849" y="1612702"/>
            <a:ext cx="216093" cy="2701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6387146" y="2198092"/>
            <a:ext cx="4937597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ADAPTABILITY</a:t>
            </a:r>
            <a:endParaRPr lang="en-US" sz="1750" dirty="0"/>
          </a:p>
        </p:txBody>
      </p:sp>
      <p:sp>
        <p:nvSpPr>
          <p:cNvPr id="10" name="Text 6"/>
          <p:cNvSpPr/>
          <p:nvPr/>
        </p:nvSpPr>
        <p:spPr>
          <a:xfrm>
            <a:off x="6387146" y="2582565"/>
            <a:ext cx="4937597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Modular structure allows additional OS concepts to be added later as extensions (future work).</a:t>
            </a:r>
            <a:endParaRPr lang="en-US" sz="14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522663"/>
            <a:ext cx="5348551" cy="187344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227654" y="3657798"/>
            <a:ext cx="216093" cy="2701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</a:t>
            </a:r>
            <a:endParaRPr lang="en-US" sz="1700" dirty="0"/>
          </a:p>
        </p:txBody>
      </p:sp>
      <p:sp>
        <p:nvSpPr>
          <p:cNvPr id="13" name="Text 8"/>
          <p:cNvSpPr/>
          <p:nvPr/>
        </p:nvSpPr>
        <p:spPr>
          <a:xfrm>
            <a:off x="866952" y="4243189"/>
            <a:ext cx="4937597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METHODOLOGY EVALUATION</a:t>
            </a:r>
            <a:endParaRPr lang="en-US" sz="1750" dirty="0"/>
          </a:p>
        </p:txBody>
      </p:sp>
      <p:sp>
        <p:nvSpPr>
          <p:cNvPr id="14" name="Text 9"/>
          <p:cNvSpPr/>
          <p:nvPr/>
        </p:nvSpPr>
        <p:spPr>
          <a:xfrm>
            <a:off x="866952" y="4627662"/>
            <a:ext cx="4937597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Features validated through functional Linux execution: REPL, backup, list, restore, exit.</a:t>
            </a:r>
            <a:endParaRPr lang="en-US" sz="14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81670" y="3522663"/>
            <a:ext cx="5348551" cy="187344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747849" y="3657798"/>
            <a:ext cx="216093" cy="2701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4</a:t>
            </a:r>
            <a:endParaRPr lang="en-US" sz="1700" dirty="0"/>
          </a:p>
        </p:txBody>
      </p:sp>
      <p:sp>
        <p:nvSpPr>
          <p:cNvPr id="17" name="Text 11"/>
          <p:cNvSpPr/>
          <p:nvPr/>
        </p:nvSpPr>
        <p:spPr>
          <a:xfrm>
            <a:off x="6387146" y="4243189"/>
            <a:ext cx="4937597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DISSEMINATION &amp; ACCESSIBILITY</a:t>
            </a:r>
            <a:endParaRPr lang="en-US" sz="1750" dirty="0"/>
          </a:p>
        </p:txBody>
      </p:sp>
      <p:sp>
        <p:nvSpPr>
          <p:cNvPr id="18" name="Text 12"/>
          <p:cNvSpPr/>
          <p:nvPr/>
        </p:nvSpPr>
        <p:spPr>
          <a:xfrm>
            <a:off x="6387146" y="4627662"/>
            <a:ext cx="4937597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Implemented in standard C with Makefile and GCC — easy to build, run, and demonstrate.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661475" y="5589290"/>
            <a:ext cx="10868745" cy="697508"/>
          </a:xfrm>
          <a:prstGeom prst="roundRect">
            <a:avLst>
              <a:gd name="adj" fmla="val 3874"/>
            </a:avLst>
          </a:prstGeom>
          <a:solidFill>
            <a:srgbClr val="0D3E73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1552" y="5832376"/>
            <a:ext cx="225122" cy="18008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246752" y="5805884"/>
            <a:ext cx="10712976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Future OS concepts may be proposed, but are NOT implemented in the current prototype.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3F465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54" y="141684"/>
            <a:ext cx="4382978" cy="65746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787598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Current Project Status</a:t>
            </a:r>
            <a:endParaRPr lang="en-US" sz="37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3360" y="1661716"/>
            <a:ext cx="6296860" cy="210978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22367" y="1850727"/>
            <a:ext cx="59188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COMPLETED</a:t>
            </a:r>
            <a:endParaRPr lang="en-US" sz="1850" dirty="0"/>
          </a:p>
        </p:txBody>
      </p:sp>
      <p:sp>
        <p:nvSpPr>
          <p:cNvPr id="7" name="Text 3"/>
          <p:cNvSpPr/>
          <p:nvPr/>
        </p:nvSpPr>
        <p:spPr>
          <a:xfrm>
            <a:off x="5422367" y="2259409"/>
            <a:ext cx="5918846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 FlashOS foundation · ✓ REPL interface · ✓ Makefile · ✓ Manual backup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 Backup listing · ✓ Manual restore · ✓ Linux file I/O · ✓ Basic functional testing</a:t>
            </a:r>
            <a:endParaRPr lang="en-US" sz="14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3960515"/>
            <a:ext cx="6296860" cy="210978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422367" y="4149527"/>
            <a:ext cx="59188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STATUS</a:t>
            </a:r>
            <a:endParaRPr lang="en-US" sz="1850" dirty="0"/>
          </a:p>
        </p:txBody>
      </p:sp>
      <p:sp>
        <p:nvSpPr>
          <p:cNvPr id="10" name="Text 5"/>
          <p:cNvSpPr/>
          <p:nvPr/>
        </p:nvSpPr>
        <p:spPr>
          <a:xfrm>
            <a:off x="5422367" y="4558209"/>
            <a:ext cx="5918846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Working Prototype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current version demonstrates a Linux-based command-line environment implementing manual file backup and restore using core system calls.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3F465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352" y="103981"/>
            <a:ext cx="4433181" cy="66499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577056"/>
            <a:ext cx="6296860" cy="433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Conclusion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233360" y="1163737"/>
            <a:ext cx="555214" cy="940792"/>
          </a:xfrm>
          <a:prstGeom prst="roundRect">
            <a:avLst>
              <a:gd name="adj" fmla="val 50000"/>
            </a:avLst>
          </a:prstGeom>
          <a:solidFill>
            <a:srgbClr val="3F4652"/>
          </a:solidFill>
          <a:ln/>
        </p:spPr>
      </p:sp>
      <p:sp>
        <p:nvSpPr>
          <p:cNvPr id="6" name="Text 3"/>
          <p:cNvSpPr/>
          <p:nvPr/>
        </p:nvSpPr>
        <p:spPr>
          <a:xfrm>
            <a:off x="5890470" y="1302544"/>
            <a:ext cx="5639750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Practical Tool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890470" y="1580555"/>
            <a:ext cx="5639750" cy="385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FlashOS provides a simple command-line environment for manual file backup and restoration.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233360" y="2206427"/>
            <a:ext cx="555214" cy="940792"/>
          </a:xfrm>
          <a:prstGeom prst="roundRect">
            <a:avLst>
              <a:gd name="adj" fmla="val 50000"/>
            </a:avLst>
          </a:prstGeom>
          <a:solidFill>
            <a:srgbClr val="3F4652"/>
          </a:solidFill>
          <a:ln/>
        </p:spPr>
      </p:sp>
      <p:sp>
        <p:nvSpPr>
          <p:cNvPr id="9" name="Text 6"/>
          <p:cNvSpPr/>
          <p:nvPr/>
        </p:nvSpPr>
        <p:spPr>
          <a:xfrm>
            <a:off x="5890470" y="2345234"/>
            <a:ext cx="5639750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Technical Foundations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5890470" y="2623245"/>
            <a:ext cx="5639750" cy="385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implementation is written in C and uses Linux file I/O system calls (open, read, write, close).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233360" y="3249116"/>
            <a:ext cx="555214" cy="940792"/>
          </a:xfrm>
          <a:prstGeom prst="roundRect">
            <a:avLst>
              <a:gd name="adj" fmla="val 50000"/>
            </a:avLst>
          </a:prstGeom>
          <a:solidFill>
            <a:srgbClr val="3F4652"/>
          </a:solidFill>
          <a:ln/>
        </p:spPr>
      </p:sp>
      <p:sp>
        <p:nvSpPr>
          <p:cNvPr id="12" name="Text 9"/>
          <p:cNvSpPr/>
          <p:nvPr/>
        </p:nvSpPr>
        <p:spPr>
          <a:xfrm>
            <a:off x="5890470" y="3387923"/>
            <a:ext cx="5639750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Educational Value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5890470" y="3665934"/>
            <a:ext cx="5639750" cy="385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Project offers a practical foundation for learning Operating System and Linux system programming concepts.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233360" y="4291806"/>
            <a:ext cx="555214" cy="940792"/>
          </a:xfrm>
          <a:prstGeom prst="roundRect">
            <a:avLst>
              <a:gd name="adj" fmla="val 50000"/>
            </a:avLst>
          </a:prstGeom>
          <a:solidFill>
            <a:srgbClr val="3F4652"/>
          </a:solidFill>
          <a:ln/>
        </p:spPr>
      </p:sp>
      <p:sp>
        <p:nvSpPr>
          <p:cNvPr id="15" name="Text 12"/>
          <p:cNvSpPr/>
          <p:nvPr/>
        </p:nvSpPr>
        <p:spPr>
          <a:xfrm>
            <a:off x="5890470" y="4430613"/>
            <a:ext cx="5639750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Design Philosophy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5890470" y="4708624"/>
            <a:ext cx="5639750" cy="385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Small system. Practical OS concepts. Step-by-step development. Future extensions may add advanced OS mechanisms (proposed only).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233360" y="5381823"/>
            <a:ext cx="6296860" cy="19050"/>
          </a:xfrm>
          <a:prstGeom prst="roundRect">
            <a:avLst>
              <a:gd name="adj" fmla="val 49999"/>
            </a:avLst>
          </a:prstGeom>
          <a:solidFill>
            <a:srgbClr val="D6E5EF">
              <a:alpha val="50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5233360" y="5588397"/>
            <a:ext cx="6296860" cy="346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1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Thank You</a:t>
            </a:r>
            <a:endParaRPr lang="en-US" sz="2150" dirty="0"/>
          </a:p>
        </p:txBody>
      </p:sp>
      <p:sp>
        <p:nvSpPr>
          <p:cNvPr id="19" name="Text 16"/>
          <p:cNvSpPr/>
          <p:nvPr/>
        </p:nvSpPr>
        <p:spPr>
          <a:xfrm>
            <a:off x="4928568" y="6088261"/>
            <a:ext cx="6906444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FLASHOS — A Lightweight OS-Based Manual File Backup and Recovery System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707033"/>
            <a:ext cx="5961112" cy="47269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77375" y="689570"/>
            <a:ext cx="3659096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OUTPUT OF FLASHOS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2026-09-16T05:18:23Z</dcterms:created>
  <dcterms:modified xsi:type="dcterms:W3CDTF">2026-09-16T05:18:23Z</dcterms:modified>
</cp:coreProperties>
</file>